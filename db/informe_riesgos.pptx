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2926080" cy="5943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NIVEL DE RIESGO: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EAF0"/>
                </a:solidFill>
              </a:rPr>
              <a:t>Análisis de Riesgos de Ciberseguridad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4757"/>
                </a:solidFill>
              </a:rPr>
              <a:t>Informe de Exposición y Riesgos Críticos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777240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4757"/>
                </a:solidFill>
              </a:rPr>
              <a:t>⚠  Exposición crítica que amenaza la continuidad del negocio y la confidencialidad de datos de clientes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237744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2377440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757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A4"/>
                </a:solidFill>
              </a:rPr>
              <a:t>Hallazgos Críticos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480560"/>
            <a:ext cx="237744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4480560"/>
            <a:ext cx="237744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572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A502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A4"/>
                </a:solidFill>
              </a:rPr>
              <a:t>Hallazgos Altos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480560"/>
            <a:ext cx="237744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480560"/>
            <a:ext cx="237744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572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A4"/>
                </a:solidFill>
              </a:rPr>
              <a:t>Hallazgos Medios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480560"/>
            <a:ext cx="237744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4480560"/>
            <a:ext cx="2377440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572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757"/>
                </a:solidFill>
              </a:rPr>
              <a:t>70/100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2A4"/>
                </a:solidFill>
              </a:rPr>
              <a:t>Score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</a:rPr>
              <a:t>AuditAI Multi-Agente  ·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AF0"/>
                </a:solidFill>
              </a:rPr>
              <a:t>TOP 5 RIESGOS CRÍTICOS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92A4"/>
                </a:solidFill>
              </a:rPr>
              <a:t>Impacto directo sobre el negocio si no se actúa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73152" cy="10515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R01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941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Desactivación tardía de cuentas/VPN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Las cuentas de usuarios y accesos VPN permanecen activas hasta 72 h tras la baja, duplicando la ventana de ataque. La falta de automatización expone a la empresa a accesos no autorizados y posibles filtraciones.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</a:rPr>
              <a:t>💰 Hasta 5 % de la facturación anual (~€2 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⚡ Robo de credenciales y acceso a sistemas críticos con posible pérdida de datos sensibles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143000"/>
            <a:ext cx="137160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CRÍTICO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554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568"/>
                </a:solidFill>
              </a:rPr>
              <a:t>ISO 27001 · ENS · NIS2 · PCI-DSS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039112"/>
            <a:ext cx="1161288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039112"/>
            <a:ext cx="73152" cy="10515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67712"/>
            <a:ext cx="457200" cy="4572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R03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112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Ausencia de procedimiento de notificación de incidentes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496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No existe un proceso documentado ni pruebas de notificación de brechas, incumpliendo NIS2 y GDPR. La empresa no podría comunicar incidentes dentro del plazo legal de 72 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30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</a:rPr>
              <a:t>💰 Multas de hasta €20 M o 4 % de facturación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42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⚡ Sanciones regulatorias y daño reputacional irreversible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313432"/>
            <a:ext cx="137160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313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CRÍTICO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7249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568"/>
                </a:solidFill>
              </a:rPr>
              <a:t>NIS2 · GDPR · ISO 27001 · PCI-DSS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09544"/>
            <a:ext cx="1161288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09544"/>
            <a:ext cx="73152" cy="10515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438144"/>
            <a:ext cx="457200" cy="4572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381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R04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2826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Falta de evidencia de continuidad del negocio y DRP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6667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No se dispone de planes de continuidad ni pruebas de recuperación, vulnerando NIS2, ISO 27001 y PCI‑DSS. Ante una interrupción, la empresa carece de capacidad de restaurar servicios críticos rápidamente.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00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</a:rPr>
              <a:t>💰 Pérdida de ingresos estimada en €3 M por día de inactividad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12463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⚡ Interrupción prolongada del negocio y pérdida de confianza de clientes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3483863"/>
            <a:ext cx="137160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48386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CRÍTICO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8953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568"/>
                </a:solidFill>
              </a:rPr>
              <a:t>NIS2 · ISO 27001 · PCI-DSS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379976"/>
            <a:ext cx="1161288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379976"/>
            <a:ext cx="73152" cy="10515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608576"/>
            <a:ext cx="457200" cy="4572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08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R05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453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Tratamiento de datos especiales sin base legal ni DPIA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83717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Se procesan datos de estado civil sin consentimiento ni Evaluación de Impacto, vulnerando GDPR Art. 9 y NIS2. La exposición puede derivar en reclamaciones de derechos ARCO y sanciones.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4714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</a:rPr>
              <a:t>💰 Multas de €10 M o 2 % de facturación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882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⚡ Sanciones regulatorias y demandas de los titulares de datos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92640" y="4654296"/>
            <a:ext cx="1371600" cy="3657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46542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CRÍTICO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50657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568"/>
                </a:solidFill>
              </a:rPr>
              <a:t>GDPR · ISO 27001 · NIS2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550408"/>
            <a:ext cx="11612880" cy="1051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550408"/>
            <a:ext cx="73152" cy="105156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5779008"/>
            <a:ext cx="457200" cy="45720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779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R11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Cifrado de datos de tarjetas en reposo no evidenciado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60076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Los datos de tarjetas de pago no están cifrados según PCI‑DSS y GDPR, aumentando el riesgo de robo de información financiera. La ausencia de evidencia impide demostrar cumplimiento ante auditorías.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641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2"/>
                </a:solidFill>
              </a:rPr>
              <a:t>💰 Multas de $100 k por violación y pérdida de confianza de clientes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6053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⚡ Robo de datos de tarjetas, fraude y sanciones financieras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5824728"/>
            <a:ext cx="1371600" cy="36576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5824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ALTO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6920" y="62362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5568"/>
                </a:solidFill>
              </a:rPr>
              <a:t>PCI-DSS · 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AF0"/>
                </a:solidFill>
              </a:rPr>
              <a:t>EXPOSICIÓN NORMATIVA Y SANCIONES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5661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566160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ISO 27001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024128"/>
            <a:ext cx="685800" cy="3200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241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117"/>
                </a:solidFill>
              </a:rPr>
              <a:t>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</a:rPr>
              <a:t>Multa máx: No aplica (sanciones contractuales y reputacionales)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84 incumplimientos detectados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Solo el 9 % de los controles están evidenciados, exponiendo a la organización a fallos de seguridad críticos.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914400"/>
            <a:ext cx="35661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914400"/>
            <a:ext cx="356616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0241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1024128"/>
            <a:ext cx="685800" cy="32004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79" y="10241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117"/>
                </a:solidFill>
              </a:rPr>
              <a:t>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2"/>
                </a:solidFill>
              </a:rPr>
              <a:t>Multa máx: Sanciones administrativas según legislación española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2 incumplimientos detectados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488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Dos controles críticos (desactivación de cuentas y punto ciego CCTV) no cumplen los requisitos mínimos del ENS.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914400"/>
            <a:ext cx="35661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914400"/>
            <a:ext cx="356616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0241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GDPR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0" y="1024128"/>
            <a:ext cx="685800" cy="32004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102412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117"/>
                </a:solidFill>
              </a:rPr>
              <a:t>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2"/>
                </a:solidFill>
              </a:rPr>
              <a:t>Multa máx: €20 M o 4 % de la facturación 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5 incumplimientos detectados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14884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Faltan DPIA, bases legales para datos especiales y procesos de notificación, generando alto riesgo de sanciones.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74720"/>
            <a:ext cx="35661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474720"/>
            <a:ext cx="356616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5844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NIS2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584448"/>
            <a:ext cx="685800" cy="32004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844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117"/>
                </a:solidFill>
              </a:rPr>
              <a:t>ALTO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2"/>
                </a:solidFill>
              </a:rPr>
              <a:t>Multa máx: Hasta €10 M o 2 % de la facturación 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5 incumplimientos detectados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091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Ausencia de notificación de incidentes, gestión de cadena de suministro y planes de continuidad comprometen la resiliencia operativa.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474720"/>
            <a:ext cx="35661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474720"/>
            <a:ext cx="356616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5844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EAF0"/>
                </a:solidFill>
              </a:rPr>
              <a:t>PCI-DSS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79" y="3584448"/>
            <a:ext cx="685800" cy="32004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79" y="35844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D1117"/>
                </a:solidFill>
              </a:rPr>
              <a:t>ALTO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2"/>
                </a:solidFill>
              </a:rPr>
              <a:t>Multa máx: $100 k por violación y posible pérdida de certificación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389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A4"/>
                </a:solidFill>
              </a:rPr>
              <a:t>5 incumplimientos detectados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7091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2A4"/>
                </a:solidFill>
              </a:rPr>
              <a:t>Cifrado de datos de tarjeta, segmentación de red y pruebas de penetración no están evidenciados, amenazando la certificación.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AF0"/>
                </a:solidFill>
              </a:rPr>
              <a:t>MÉTRICAS CLAVE DE EXPOSICIÓN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486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4757"/>
                </a:solidFill>
              </a:rPr>
              <a:t>176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EAF0"/>
                </a:solidFill>
              </a:rPr>
              <a:t>Exposición total (Σ Score)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Valor máximo posible 250; indica alta exposición global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14400"/>
            <a:ext cx="5486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914400"/>
            <a:ext cx="548640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515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A502"/>
                </a:solidFill>
              </a:rPr>
              <a:t>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EAF0"/>
                </a:solidFill>
              </a:rPr>
              <a:t>Madurez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334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Escala 1‑5; la organización está en fase "Definida" y necesita avanzar a "Gestionada"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5486400" cy="64008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79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5B9FFF"/>
                </a:solidFill>
              </a:rPr>
              <a:t>35 %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EAF0"/>
                </a:solidFill>
              </a:rPr>
              <a:t>Porcentaje de riesgos críticos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937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7 de 20 riesgos con criticidad 5 representan la mayor amenaza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48640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474720"/>
            <a:ext cx="5486400" cy="6400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79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E5A0"/>
                </a:solidFill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EAF0"/>
                </a:solidFill>
              </a:rPr>
              <a:t>Score global (0‑100)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937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Conversión de exposición total; sitúa el riesgo en nivel crítico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AF0"/>
                </a:solidFill>
              </a:rPr>
              <a:t>PLAN DE ACCIÓN RECOMENDADO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65760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657600" cy="640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3383280" cy="5486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Inmediato (0-30 días)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Automatizar desactivación de cuentas y VPN mediante integración nómina‑AD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Definir y publicar procedimiento de notificación de incidentes (plazo 72 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46120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546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Crear BCP básico y ejecutar prueba de recuperación de servicios críticos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57800"/>
            <a:ext cx="338328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757"/>
                </a:solidFill>
              </a:rPr>
              <a:t>💶 €50.000‑100.000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15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</a:rPr>
              <a:t>R01, R03, R04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914400"/>
            <a:ext cx="365760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914400"/>
            <a:ext cx="3657600" cy="64008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1051560"/>
            <a:ext cx="3383280" cy="54864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051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Corto plazo (30-90 días)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874519"/>
            <a:ext cx="274320" cy="27432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17830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Implementar segmentación de red y reglas de firewall para zona de datos de tarjetas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560320"/>
            <a:ext cx="274320" cy="27432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468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Cifrar datos de tarjetas en reposo y en tránsito (TLS 1.3, AES‑256)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246120"/>
            <a:ext cx="274320" cy="274320"/>
          </a:xfrm>
          <a:prstGeom prst="rect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1546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Establecer programa de gestión de riesgos de terceros y firmar cláusulas de seguridad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257800"/>
            <a:ext cx="338328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A502"/>
                </a:solidFill>
              </a:rPr>
              <a:t>💶 €100.000‑200.000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15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</a:rPr>
              <a:t>R07, R11, R12, R09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914400"/>
            <a:ext cx="3657600" cy="5303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914400"/>
            <a:ext cx="3657600" cy="64008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1051560"/>
            <a:ext cx="3383280" cy="548640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051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Medio plazo (90-180 días)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1874519"/>
            <a:ext cx="274320" cy="274320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17830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Contratar pruebas de penetración anual y auditoría de desarrollo seguro (SDLC)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2560320"/>
            <a:ext cx="274320" cy="274320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2468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Lanzar programa de concienciación y simulacros de phishing para todo el personal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3246120"/>
            <a:ext cx="274320" cy="274320"/>
          </a:xfrm>
          <a:prstGeom prst="rect">
            <a:avLst/>
          </a:prstGeom>
          <a:solidFill>
            <a:srgbClr val="5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1546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AF0"/>
                </a:solidFill>
              </a:rPr>
              <a:t>Realizar auditoría integral ISO 27001 y cerrar brechas de evidencia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5257800"/>
            <a:ext cx="338328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5257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B9FFF"/>
                </a:solidFill>
              </a:rPr>
              <a:t>💶 €150.000‑250.000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715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2A4"/>
                </a:solidFill>
              </a:rPr>
              <a:t>R10, R13, R15, R16, R18, R20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30861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4757"/>
                </a:solidFill>
              </a:rPr>
              <a:t>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EAF0"/>
                </a:solidFill>
              </a:rPr>
              <a:t>EL RIESGO ES REAL. EL MOMENTO ES AHORA.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4757"/>
                </a:solidFill>
              </a:rPr>
              <a:t>Actúe ahora o arriesgue la continuidad y la reputación de la empresa.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4757"/>
                </a:solidFill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3891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92A4"/>
                </a:solidFill>
              </a:rPr>
              <a:t>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A4"/>
                </a:solidFill>
              </a:rPr>
              <a:t>Score de Riesgo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3832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AF0"/>
                </a:solidFill>
              </a:rPr>
              <a:t>Próximos pasos: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886200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886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40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Aprobar presupuesto de remediación urgente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4544568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4544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4988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Designar responsable de seguimiento (CISO / DPO)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5202936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52029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15721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Iniciar acciones críticas en los próximos 30 días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5861304"/>
            <a:ext cx="274320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58613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81558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0"/>
                </a:solidFill>
              </a:rPr>
              <a:t>Programar revisión de progreso en 60 días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5568"/>
                </a:solidFill>
              </a:rPr>
              <a:t>Generado por AuditAI  ·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